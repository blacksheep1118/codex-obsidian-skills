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</p:spPr>
        <p:txBody>
          <a:bodyPr wrap="square"/>
          <a:lstStyle/>
          <a:p>
            <a:r>
              <a:rPr lang="zh-CN"/>
              <a:t>机器学习导论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</p:spPr>
        <p:txBody>
          <a:bodyPr wrap="square"/>
          <a:lstStyle/>
          <a:p>
            <a:r>
              <a:rPr lang="zh-CN"/>
              <a:t>经验风险与泛化</a:t>
            </a:r>
          </a:p>
          <a:p>
            <a:r>
              <a:rPr lang="zh-CN"/>
              <a:t>训练误差低不代表测试误差低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</p:spPr>
        <p:txBody>
          <a:bodyPr wrap="square"/>
          <a:lstStyle/>
          <a:p>
            <a:r>
              <a:rPr lang="zh-CN"/>
              <a:t>经验风险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</p:spPr>
        <p:txBody>
          <a:bodyPr wrap="square"/>
          <a:lstStyle/>
          <a:p>
            <a:r>
              <a:rPr lang="zh-CN"/>
              <a:t>R_hat(f)=1/N sum_i L(f(x_i), y_i)</a:t>
            </a:r>
          </a:p>
          <a:p>
            <a:r>
              <a:rPr lang="zh-CN"/>
              <a:t>真实风险</a:t>
            </a:r>
          </a:p>
          <a:p>
            <a:r>
              <a:rPr lang="zh-CN"/>
              <a:t>R(f)=E_{(x,y)~P} L(f(x),y)</a:t>
            </a:r>
          </a:p>
          <a:p>
            <a:r>
              <a:rPr lang="zh-CN"/>
              <a:t>注意：验证集不能反复当测试集使用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</p:spPr>
        <p:txBody>
          <a:bodyPr wrap="square"/>
          <a:lstStyle/>
          <a:p>
            <a:r>
              <a:rPr lang="zh-CN"/>
              <a:t>Obsidian 输出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</p:spPr>
        <p:txBody>
          <a:bodyPr wrap="square"/>
          <a:lstStyle/>
          <a:p>
            <a:r>
              <a:rPr lang="zh-CN"/>
              <a:t>00_课程总览.md</a:t>
            </a:r>
          </a:p>
          <a:p>
            <a:r>
              <a:rPr lang="zh-CN"/>
              <a:t>01_经验风险与泛化.md</a:t>
            </a:r>
          </a:p>
          <a:p>
            <a:r>
              <a:rPr lang="zh-CN"/>
              <a:t>知识点详细版_含公式.md</a:t>
            </a:r>
          </a:p>
          <a:p>
            <a:r>
              <a:rPr lang="zh-CN"/>
              <a:t>知识点精简复习版_含公式.md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 Theme">
  <a:themeElements>
    <a:clrScheme name="Sample">
      <a:dk1>
        <a:srgbClr val="000000"/>
      </a:dk1>
      <a:lt1>
        <a:srgbClr val="FFFFFF"/>
      </a:lt1>
      <a:dk2>
        <a:srgbClr val="1F2937"/>
      </a:dk2>
      <a:lt2>
        <a:srgbClr val="F9FAFB"/>
      </a:lt2>
      <a:accent1>
        <a:srgbClr val="2563EB"/>
      </a:accent1>
      <a:accent2>
        <a:srgbClr val="16A34A"/>
      </a:accent2>
      <a:accent3>
        <a:srgbClr val="DC2626"/>
      </a:accent3>
      <a:accent4>
        <a:srgbClr val="9333EA"/>
      </a:accent4>
      <a:accent5>
        <a:srgbClr val="EA580C"/>
      </a:accent5>
      <a:accent6>
        <a:srgbClr val="0891B2"/>
      </a:accent6>
      <a:hlink>
        <a:srgbClr val="0000FF"/>
      </a:hlink>
      <a:folHlink>
        <a:srgbClr val="800080"/>
      </a:folHlink>
    </a:clrScheme>
    <a:fontScheme name="Sample">
      <a:majorFont>
        <a:latin typeface="Arial"/>
      </a:majorFont>
      <a:minorFont>
        <a:latin typeface="Arial"/>
      </a:minorFont>
    </a:fontScheme>
    <a:fmtScheme name="Sa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